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6C8FF4E8-E9C6-42BE-9AD0-2DC419C19E92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6/17/26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68BB459-B9CB-4641-B637-0BCB4D6B53D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9144000" y="-1371600"/>
            <a:ext cx="4571640" cy="4571640"/>
          </a:xfrm>
          <a:prstGeom prst="ellipse">
            <a:avLst/>
          </a:prstGeom>
          <a:solidFill>
            <a:srgbClr val="eff6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CustomShape 2"/>
          <p:cNvSpPr/>
          <p:nvPr/>
        </p:nvSpPr>
        <p:spPr>
          <a:xfrm>
            <a:off x="1097280" y="2011680"/>
            <a:ext cx="274284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CustomShape 3"/>
          <p:cNvSpPr/>
          <p:nvPr/>
        </p:nvSpPr>
        <p:spPr>
          <a:xfrm>
            <a:off x="1097280" y="2240280"/>
            <a:ext cx="9143640" cy="124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800" spc="-1" strike="noStrike">
                <a:solidFill>
                  <a:srgbClr val="0f172a"/>
                </a:solidFill>
                <a:latin typeface="Segoe UI"/>
              </a:rPr>
              <a:t>LISFLOOD HYDROLOGICAL MODEL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1097280" y="3200400"/>
            <a:ext cx="914364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d4ed8"/>
                </a:solidFill>
                <a:latin typeface="Segoe UI"/>
              </a:rPr>
              <a:t>Cold Start &amp; Warm Start — Execution, Outputs &amp; Analysis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1097280" y="4023360"/>
            <a:ext cx="822924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Segoe UI"/>
              </a:rPr>
              <a:t>A comprehensive walkthrough of simulation setup, Docker execution, state-file transitions, output datasets, and discharge hydrograph comparison.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6" name="CustomShape 6"/>
          <p:cNvSpPr/>
          <p:nvPr/>
        </p:nvSpPr>
        <p:spPr>
          <a:xfrm>
            <a:off x="0" y="6126480"/>
            <a:ext cx="12191400" cy="731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CustomShape 7"/>
          <p:cNvSpPr/>
          <p:nvPr/>
        </p:nvSpPr>
        <p:spPr>
          <a:xfrm>
            <a:off x="1097280" y="6263640"/>
            <a:ext cx="91436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Segoe UI"/>
              </a:rPr>
              <a:t>Watershed Area: 781.836 km²   •   Daily Timestep (86 400 s)   •   Channel Sub-Step: 3 600 s   •   UTM Zone 43 / WGS 84   •   Docker: jrce1/lisflood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731520" y="365760"/>
            <a:ext cx="73148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UNDERSTANDING THE TWO SIMULATION MODES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731520" y="822960"/>
            <a:ext cx="365724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CustomShape 3"/>
          <p:cNvSpPr/>
          <p:nvPr/>
        </p:nvSpPr>
        <p:spPr>
          <a:xfrm>
            <a:off x="731520" y="1097280"/>
            <a:ext cx="5120280" cy="530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CustomShape 4"/>
          <p:cNvSpPr/>
          <p:nvPr/>
        </p:nvSpPr>
        <p:spPr>
          <a:xfrm>
            <a:off x="731520" y="1097280"/>
            <a:ext cx="512028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CustomShape 5"/>
          <p:cNvSpPr/>
          <p:nvPr/>
        </p:nvSpPr>
        <p:spPr>
          <a:xfrm>
            <a:off x="1097280" y="1371600"/>
            <a:ext cx="438876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1d4ed8"/>
                </a:solidFill>
                <a:latin typeface="Segoe UI"/>
              </a:rPr>
              <a:t>❄  </a:t>
            </a:r>
            <a:r>
              <a:rPr b="1" lang="en-US" sz="2200" spc="-1" strike="noStrike">
                <a:solidFill>
                  <a:srgbClr val="1d4ed8"/>
                </a:solidFill>
                <a:latin typeface="Segoe UI"/>
              </a:rPr>
              <a:t>COLD START  (Spin-Up Run)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" name="CustomShape 6"/>
          <p:cNvSpPr/>
          <p:nvPr/>
        </p:nvSpPr>
        <p:spPr>
          <a:xfrm>
            <a:off x="1097280" y="1965960"/>
            <a:ext cx="4388760" cy="435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What it is: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The simulation starts from scratch — all internal water stores are empty or set to bogus placeholder values (0 or −9999).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Purpose: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Run a multi-year spin-up period so that soil moisture, groundwater zones, channel flows, snow cover and frost indices build up to physically realistic levels.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Key Point: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Outputs from the early portion of the run are unreliable and typically discarded; only the end-of-run state maps (.end.nc) matter — they become the 'memory' of the watershed.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InitLisflood: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Set to 1 (ON) — tells the model this is an initialization run.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Config File: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cold.xml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" name="CustomShape 7"/>
          <p:cNvSpPr/>
          <p:nvPr/>
        </p:nvSpPr>
        <p:spPr>
          <a:xfrm>
            <a:off x="6309360" y="1097280"/>
            <a:ext cx="5120280" cy="530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CustomShape 8"/>
          <p:cNvSpPr/>
          <p:nvPr/>
        </p:nvSpPr>
        <p:spPr>
          <a:xfrm>
            <a:off x="6309360" y="1097280"/>
            <a:ext cx="512028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CustomShape 9"/>
          <p:cNvSpPr/>
          <p:nvPr/>
        </p:nvSpPr>
        <p:spPr>
          <a:xfrm>
            <a:off x="6675120" y="1371600"/>
            <a:ext cx="438876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59669"/>
                </a:solidFill>
                <a:latin typeface="Segoe UI"/>
              </a:rPr>
              <a:t>🔥  </a:t>
            </a:r>
            <a:r>
              <a:rPr b="1" lang="en-US" sz="2200" spc="-1" strike="noStrike">
                <a:solidFill>
                  <a:srgbClr val="059669"/>
                </a:solidFill>
                <a:latin typeface="Segoe UI"/>
              </a:rPr>
              <a:t>WARM START  (Operational Run)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7" name="CustomShape 10"/>
          <p:cNvSpPr/>
          <p:nvPr/>
        </p:nvSpPr>
        <p:spPr>
          <a:xfrm>
            <a:off x="6675120" y="1965960"/>
            <a:ext cx="4388760" cy="41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What it is: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The simulation loads pre-stabilized state files (*.end.nc) produced at the end of the Cold Start, bypassing the spin-up.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Purpose: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Immediately generate physically accurate discharge and water-balance outputs — ideal for real-time flood forecasting with daily weather feeds.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Key Point: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Model outputs are trustworthy from timestep 1 because the 'memory' of the watershed is already baked into the initial states.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InitLisflood: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Set to 0 (OFF) — this is a real simulation, not initialization.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201"/>
              </a:spcAft>
            </a:pP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▸ </a:t>
            </a: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Config File: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warm_start.xml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731520" y="365760"/>
            <a:ext cx="73148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COLD START — SIMULATION CONFIGURATION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9" name="CustomShape 2"/>
          <p:cNvSpPr/>
          <p:nvPr/>
        </p:nvSpPr>
        <p:spPr>
          <a:xfrm>
            <a:off x="731520" y="822960"/>
            <a:ext cx="365724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3"/>
          <p:cNvSpPr/>
          <p:nvPr/>
        </p:nvSpPr>
        <p:spPr>
          <a:xfrm>
            <a:off x="731520" y="1097280"/>
            <a:ext cx="2559960" cy="105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CustomShape 4"/>
          <p:cNvSpPr/>
          <p:nvPr/>
        </p:nvSpPr>
        <p:spPr>
          <a:xfrm>
            <a:off x="868680" y="1170360"/>
            <a:ext cx="228564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CustomShape 5"/>
          <p:cNvSpPr/>
          <p:nvPr/>
        </p:nvSpPr>
        <p:spPr>
          <a:xfrm>
            <a:off x="914400" y="1325880"/>
            <a:ext cx="21942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1d4ed8"/>
                </a:solidFill>
                <a:latin typeface="Segoe UI"/>
              </a:rPr>
              <a:t>01/01/2024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3" name="CustomShape 6"/>
          <p:cNvSpPr/>
          <p:nvPr/>
        </p:nvSpPr>
        <p:spPr>
          <a:xfrm>
            <a:off x="914400" y="1783080"/>
            <a:ext cx="21942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Segoe UI"/>
              </a:rPr>
              <a:t>Simulation Start (StepStart)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CustomShape 7"/>
          <p:cNvSpPr/>
          <p:nvPr/>
        </p:nvSpPr>
        <p:spPr>
          <a:xfrm>
            <a:off x="3474720" y="1097280"/>
            <a:ext cx="2559960" cy="105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CustomShape 8"/>
          <p:cNvSpPr/>
          <p:nvPr/>
        </p:nvSpPr>
        <p:spPr>
          <a:xfrm>
            <a:off x="3611880" y="1170360"/>
            <a:ext cx="228564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CustomShape 9"/>
          <p:cNvSpPr/>
          <p:nvPr/>
        </p:nvSpPr>
        <p:spPr>
          <a:xfrm>
            <a:off x="3657600" y="1325880"/>
            <a:ext cx="21942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1d4ed8"/>
                </a:solidFill>
                <a:latin typeface="Segoe UI"/>
              </a:rPr>
              <a:t>30/11/2024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7" name="CustomShape 10"/>
          <p:cNvSpPr/>
          <p:nvPr/>
        </p:nvSpPr>
        <p:spPr>
          <a:xfrm>
            <a:off x="3657600" y="1783080"/>
            <a:ext cx="21942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Segoe UI"/>
              </a:rPr>
              <a:t>Simulation End (StepEnd)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8" name="CustomShape 11"/>
          <p:cNvSpPr/>
          <p:nvPr/>
        </p:nvSpPr>
        <p:spPr>
          <a:xfrm>
            <a:off x="6217920" y="1097280"/>
            <a:ext cx="2559960" cy="105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CustomShape 12"/>
          <p:cNvSpPr/>
          <p:nvPr/>
        </p:nvSpPr>
        <p:spPr>
          <a:xfrm>
            <a:off x="6355080" y="1170360"/>
            <a:ext cx="2285640" cy="37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CustomShape 13"/>
          <p:cNvSpPr/>
          <p:nvPr/>
        </p:nvSpPr>
        <p:spPr>
          <a:xfrm>
            <a:off x="6400800" y="1325880"/>
            <a:ext cx="21942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d97706"/>
                </a:solidFill>
                <a:latin typeface="Segoe UI"/>
              </a:rPr>
              <a:t>~336 Days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1" name="CustomShape 14"/>
          <p:cNvSpPr/>
          <p:nvPr/>
        </p:nvSpPr>
        <p:spPr>
          <a:xfrm>
            <a:off x="6400800" y="1783080"/>
            <a:ext cx="21942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Segoe UI"/>
              </a:rPr>
              <a:t>Total Timesteps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2" name="CustomShape 15"/>
          <p:cNvSpPr/>
          <p:nvPr/>
        </p:nvSpPr>
        <p:spPr>
          <a:xfrm>
            <a:off x="8961120" y="1097280"/>
            <a:ext cx="2559960" cy="105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CustomShape 16"/>
          <p:cNvSpPr/>
          <p:nvPr/>
        </p:nvSpPr>
        <p:spPr>
          <a:xfrm>
            <a:off x="9098280" y="1170360"/>
            <a:ext cx="228564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CustomShape 17"/>
          <p:cNvSpPr/>
          <p:nvPr/>
        </p:nvSpPr>
        <p:spPr>
          <a:xfrm>
            <a:off x="9144000" y="1325880"/>
            <a:ext cx="21942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59669"/>
                </a:solidFill>
                <a:latin typeface="Segoe UI"/>
              </a:rPr>
              <a:t>~47 seconds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5" name="CustomShape 18"/>
          <p:cNvSpPr/>
          <p:nvPr/>
        </p:nvSpPr>
        <p:spPr>
          <a:xfrm>
            <a:off x="9144000" y="1783080"/>
            <a:ext cx="21942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Segoe UI"/>
              </a:rPr>
              <a:t>Run Time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6" name="CustomShape 19"/>
          <p:cNvSpPr/>
          <p:nvPr/>
        </p:nvSpPr>
        <p:spPr>
          <a:xfrm>
            <a:off x="731520" y="2423160"/>
            <a:ext cx="10698120" cy="1005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CustomShape 20"/>
          <p:cNvSpPr/>
          <p:nvPr/>
        </p:nvSpPr>
        <p:spPr>
          <a:xfrm>
            <a:off x="1005840" y="2514600"/>
            <a:ext cx="274284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97706"/>
                </a:solidFill>
                <a:latin typeface="Segoe UI"/>
              </a:rPr>
              <a:t>DOCKER COMMAND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8" name="CustomShape 21"/>
          <p:cNvSpPr/>
          <p:nvPr/>
        </p:nvSpPr>
        <p:spPr>
          <a:xfrm>
            <a:off x="1005840" y="2834640"/>
            <a:ext cx="100580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d4ed8"/>
                </a:solidFill>
                <a:latin typeface="Consolas"/>
              </a:rPr>
              <a:t>docker run --rm -v "$(pwd):/input" jrce1/lisflood /input/cold.xml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9" name="CustomShape 22"/>
          <p:cNvSpPr/>
          <p:nvPr/>
        </p:nvSpPr>
        <p:spPr>
          <a:xfrm>
            <a:off x="731520" y="3611880"/>
            <a:ext cx="54860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d4ed8"/>
                </a:solidFill>
                <a:latin typeface="Segoe UI"/>
              </a:rPr>
              <a:t>INITIAL STATE VALUES  (no prior knowledge)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80" name="Table 23"/>
          <p:cNvGraphicFramePr/>
          <p:nvPr/>
        </p:nvGraphicFramePr>
        <p:xfrm>
          <a:off x="731520" y="3886200"/>
          <a:ext cx="6857640" cy="28800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347472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Variable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Init 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LZInitValue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−</a:t>
                      </a: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9999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Lower groundwater zone (steady-state)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UZInitValue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0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Upper groundwater zone storage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ThetaInit 1/2/3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−</a:t>
                      </a: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9999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Soil moisture layers (field capacity)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ChanCrossSectionInit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−</a:t>
                      </a: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9999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Channel cross-section (½ bankfull)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SnowCover A/B/C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0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Snow cover in elevation zones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FrostIndexInitValue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0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Ground frost / freeze-thaw index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CumIntInitValue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0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Cumulative rainfall interception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DSLRInitValue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1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Days since last rain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1" name="CustomShape 24"/>
          <p:cNvSpPr/>
          <p:nvPr/>
        </p:nvSpPr>
        <p:spPr>
          <a:xfrm>
            <a:off x="8046720" y="3611880"/>
            <a:ext cx="3382920" cy="2925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25"/>
          <p:cNvSpPr/>
          <p:nvPr/>
        </p:nvSpPr>
        <p:spPr>
          <a:xfrm>
            <a:off x="8321040" y="3703320"/>
            <a:ext cx="292572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59669"/>
                </a:solidFill>
                <a:latin typeface="Segoe UI"/>
              </a:rPr>
              <a:t>OUTPUTS ENABLED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3" name="CustomShape 26"/>
          <p:cNvSpPr/>
          <p:nvPr/>
        </p:nvSpPr>
        <p:spPr>
          <a:xfrm>
            <a:off x="8321040" y="3977640"/>
            <a:ext cx="2925720" cy="259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✅ </a:t>
            </a: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repEndMaps =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  </a:t>
            </a: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End-of-run state maps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✅ </a:t>
            </a: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repStateMaps =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  </a:t>
            </a: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State maps at report steps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✅ </a:t>
            </a: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repDischargeTs =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  </a:t>
            </a: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Discharge time series (.tss)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✅ </a:t>
            </a: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repDischargeMaps =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  </a:t>
            </a: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Discharge spatial maps (.nc)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✅ </a:t>
            </a:r>
            <a:r>
              <a:rPr b="1" lang="en-US" sz="1000" spc="-1" strike="noStrike">
                <a:solidFill>
                  <a:srgbClr val="059669"/>
                </a:solidFill>
                <a:latin typeface="Segoe UI"/>
              </a:rPr>
              <a:t>InitLisflood =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  </a:t>
            </a: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Cold initialization mode ON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731520" y="365760"/>
            <a:ext cx="73148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d4ed8"/>
                </a:solidFill>
                <a:latin typeface="Segoe UI"/>
              </a:rPr>
              <a:t>COLD START — DISCHARGE HYDROGRAPH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731520" y="822960"/>
            <a:ext cx="365724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3"/>
          <p:cNvSpPr/>
          <p:nvPr/>
        </p:nvSpPr>
        <p:spPr>
          <a:xfrm>
            <a:off x="731520" y="960120"/>
            <a:ext cx="100580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Segoe UI"/>
              </a:rPr>
              <a:t>Simulated river discharge (m³/s) at the reporting station over ~336 daily timesteps   •   01/01/2024 → 30/11/2024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CustomShape 4"/>
          <p:cNvSpPr/>
          <p:nvPr/>
        </p:nvSpPr>
        <p:spPr>
          <a:xfrm>
            <a:off x="731520" y="1463040"/>
            <a:ext cx="10698120" cy="448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88" name="Picture 5" descr="discharge_plot.png"/>
          <p:cNvPicPr/>
          <p:nvPr/>
        </p:nvPicPr>
        <p:blipFill>
          <a:blip r:embed="rId1"/>
          <a:stretch/>
        </p:blipFill>
        <p:spPr>
          <a:xfrm>
            <a:off x="914400" y="1600200"/>
            <a:ext cx="10332360" cy="4205880"/>
          </a:xfrm>
          <a:prstGeom prst="rect">
            <a:avLst/>
          </a:prstGeom>
          <a:ln>
            <a:noFill/>
          </a:ln>
        </p:spPr>
      </p:pic>
      <p:sp>
        <p:nvSpPr>
          <p:cNvPr id="89" name="CustomShape 5"/>
          <p:cNvSpPr/>
          <p:nvPr/>
        </p:nvSpPr>
        <p:spPr>
          <a:xfrm>
            <a:off x="914400" y="6080760"/>
            <a:ext cx="100580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d97706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d97706"/>
                </a:solidFill>
                <a:latin typeface="Segoe UI"/>
              </a:rPr>
              <a:t>Notice the initial flat period (~0 m³/s) — the spin-up phase where internal stores are still filling up from empty.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731520" y="365760"/>
            <a:ext cx="73148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WARM START — SIMULATION CONFIGURATION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731520" y="822960"/>
            <a:ext cx="365724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CustomShape 3"/>
          <p:cNvSpPr/>
          <p:nvPr/>
        </p:nvSpPr>
        <p:spPr>
          <a:xfrm>
            <a:off x="731520" y="1097280"/>
            <a:ext cx="2559960" cy="105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CustomShape 4"/>
          <p:cNvSpPr/>
          <p:nvPr/>
        </p:nvSpPr>
        <p:spPr>
          <a:xfrm>
            <a:off x="868680" y="1170360"/>
            <a:ext cx="228564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CustomShape 5"/>
          <p:cNvSpPr/>
          <p:nvPr/>
        </p:nvSpPr>
        <p:spPr>
          <a:xfrm>
            <a:off x="914400" y="1325880"/>
            <a:ext cx="21942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59669"/>
                </a:solidFill>
                <a:latin typeface="Segoe UI"/>
              </a:rPr>
              <a:t>01/12/2024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5" name="CustomShape 6"/>
          <p:cNvSpPr/>
          <p:nvPr/>
        </p:nvSpPr>
        <p:spPr>
          <a:xfrm>
            <a:off x="914400" y="1783080"/>
            <a:ext cx="21942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Segoe UI"/>
              </a:rPr>
              <a:t>Simulation Start (StepStart)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CustomShape 7"/>
          <p:cNvSpPr/>
          <p:nvPr/>
        </p:nvSpPr>
        <p:spPr>
          <a:xfrm>
            <a:off x="3474720" y="1097280"/>
            <a:ext cx="2559960" cy="105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CustomShape 8"/>
          <p:cNvSpPr/>
          <p:nvPr/>
        </p:nvSpPr>
        <p:spPr>
          <a:xfrm>
            <a:off x="3611880" y="1170360"/>
            <a:ext cx="228564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CustomShape 9"/>
          <p:cNvSpPr/>
          <p:nvPr/>
        </p:nvSpPr>
        <p:spPr>
          <a:xfrm>
            <a:off x="3657600" y="1325880"/>
            <a:ext cx="21942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59669"/>
                </a:solidFill>
                <a:latin typeface="Segoe UI"/>
              </a:rPr>
              <a:t>31/12/2024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9" name="CustomShape 10"/>
          <p:cNvSpPr/>
          <p:nvPr/>
        </p:nvSpPr>
        <p:spPr>
          <a:xfrm>
            <a:off x="3657600" y="1783080"/>
            <a:ext cx="21942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Segoe UI"/>
              </a:rPr>
              <a:t>Simulation End (StepEnd)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0" name="CustomShape 11"/>
          <p:cNvSpPr/>
          <p:nvPr/>
        </p:nvSpPr>
        <p:spPr>
          <a:xfrm>
            <a:off x="6217920" y="1097280"/>
            <a:ext cx="2559960" cy="105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CustomShape 12"/>
          <p:cNvSpPr/>
          <p:nvPr/>
        </p:nvSpPr>
        <p:spPr>
          <a:xfrm>
            <a:off x="6355080" y="1170360"/>
            <a:ext cx="2285640" cy="37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CustomShape 13"/>
          <p:cNvSpPr/>
          <p:nvPr/>
        </p:nvSpPr>
        <p:spPr>
          <a:xfrm>
            <a:off x="6400800" y="1325880"/>
            <a:ext cx="21942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d97706"/>
                </a:solidFill>
                <a:latin typeface="Segoe UI"/>
              </a:rPr>
              <a:t>~31 Days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3" name="CustomShape 14"/>
          <p:cNvSpPr/>
          <p:nvPr/>
        </p:nvSpPr>
        <p:spPr>
          <a:xfrm>
            <a:off x="6400800" y="1783080"/>
            <a:ext cx="21942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Segoe UI"/>
              </a:rPr>
              <a:t>Total Timesteps (Dec 2024)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" name="CustomShape 15"/>
          <p:cNvSpPr/>
          <p:nvPr/>
        </p:nvSpPr>
        <p:spPr>
          <a:xfrm>
            <a:off x="8961120" y="1097280"/>
            <a:ext cx="2559960" cy="105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CustomShape 16"/>
          <p:cNvSpPr/>
          <p:nvPr/>
        </p:nvSpPr>
        <p:spPr>
          <a:xfrm>
            <a:off x="9098280" y="1170360"/>
            <a:ext cx="228564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CustomShape 17"/>
          <p:cNvSpPr/>
          <p:nvPr/>
        </p:nvSpPr>
        <p:spPr>
          <a:xfrm>
            <a:off x="9144000" y="1325880"/>
            <a:ext cx="21942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59669"/>
                </a:solidFill>
                <a:latin typeface="Segoe UI"/>
              </a:rPr>
              <a:t>~34 seconds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7" name="CustomShape 18"/>
          <p:cNvSpPr/>
          <p:nvPr/>
        </p:nvSpPr>
        <p:spPr>
          <a:xfrm>
            <a:off x="9144000" y="1783080"/>
            <a:ext cx="21942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Segoe UI"/>
              </a:rPr>
              <a:t>Run Time (est.)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CustomShape 19"/>
          <p:cNvSpPr/>
          <p:nvPr/>
        </p:nvSpPr>
        <p:spPr>
          <a:xfrm>
            <a:off x="731520" y="2423160"/>
            <a:ext cx="10698120" cy="1005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CustomShape 20"/>
          <p:cNvSpPr/>
          <p:nvPr/>
        </p:nvSpPr>
        <p:spPr>
          <a:xfrm>
            <a:off x="1005840" y="2514600"/>
            <a:ext cx="274284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97706"/>
                </a:solidFill>
                <a:latin typeface="Segoe UI"/>
              </a:rPr>
              <a:t>DOCKER COMMAND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0" name="CustomShape 21"/>
          <p:cNvSpPr/>
          <p:nvPr/>
        </p:nvSpPr>
        <p:spPr>
          <a:xfrm>
            <a:off x="1005840" y="2834640"/>
            <a:ext cx="100580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59669"/>
                </a:solidFill>
                <a:latin typeface="Consolas"/>
              </a:rPr>
              <a:t>docker run --rm -v "$(pwd):/input" jrce1/lisflood /input/warm_start.xml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1" name="CustomShape 22"/>
          <p:cNvSpPr/>
          <p:nvPr/>
        </p:nvSpPr>
        <p:spPr>
          <a:xfrm>
            <a:off x="731520" y="3657600"/>
            <a:ext cx="73148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59669"/>
                </a:solidFill>
                <a:latin typeface="Segoe UI"/>
              </a:rPr>
              <a:t>INITIAL STATES LOADED FROM COLD START  (*.end.nc files)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112" name="Table 23"/>
          <p:cNvGraphicFramePr/>
          <p:nvPr/>
        </p:nvGraphicFramePr>
        <p:xfrm>
          <a:off x="731520" y="3886200"/>
          <a:ext cx="10698120" cy="255996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548640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File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Variable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frost.end.nc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FrostIndexInitValue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Ground frost / freeze-thaw index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cumi.end.nc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CumIntInitValue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Cumulative rainfall interception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dslr.end.nc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DSLRInitValue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Days since last rain event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cumf.end.nc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CumIntForestInitValue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Cumulative interception (forest)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dslf.end.nc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DSLRForestInitValue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Days since last rain (forest)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dsli.end.nc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DSLRIrrigationInitValue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Days since last rain (irrigated)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cseal.end.nc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CumIntSealedInitValue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Cumulative interception (sealed)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CustomShape 24"/>
          <p:cNvSpPr/>
          <p:nvPr/>
        </p:nvSpPr>
        <p:spPr>
          <a:xfrm>
            <a:off x="731520" y="6400800"/>
            <a:ext cx="1005804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Segoe UI"/>
              </a:rPr>
              <a:t>PathInit = /input/output_dataset/out  (reads cold start's output)     PathOut = /input/output_dataset/out_warm  (writes to a separate directory)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731520" y="365760"/>
            <a:ext cx="73148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59669"/>
                </a:solidFill>
                <a:latin typeface="Segoe UI"/>
              </a:rPr>
              <a:t>WARM START — DISCHARGE HYDROGRAPH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731520" y="822960"/>
            <a:ext cx="365724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CustomShape 3"/>
          <p:cNvSpPr/>
          <p:nvPr/>
        </p:nvSpPr>
        <p:spPr>
          <a:xfrm>
            <a:off x="731520" y="960120"/>
            <a:ext cx="100580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Segoe UI"/>
              </a:rPr>
              <a:t>Simulated river discharge (m³/s) at the reporting station over ~31 daily timesteps   •   01/12/2024 → 31/12/2024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731520" y="1463040"/>
            <a:ext cx="10698120" cy="448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18" name="Picture 5" descr="discharge_plot_warm.png"/>
          <p:cNvPicPr/>
          <p:nvPr/>
        </p:nvPicPr>
        <p:blipFill>
          <a:blip r:embed="rId1"/>
          <a:stretch/>
        </p:blipFill>
        <p:spPr>
          <a:xfrm>
            <a:off x="914400" y="1600200"/>
            <a:ext cx="10332360" cy="4205880"/>
          </a:xfrm>
          <a:prstGeom prst="rect">
            <a:avLst/>
          </a:prstGeom>
          <a:ln>
            <a:noFill/>
          </a:ln>
        </p:spPr>
      </p:pic>
      <p:sp>
        <p:nvSpPr>
          <p:cNvPr id="119" name="CustomShape 5"/>
          <p:cNvSpPr/>
          <p:nvPr/>
        </p:nvSpPr>
        <p:spPr>
          <a:xfrm>
            <a:off x="914400" y="6080760"/>
            <a:ext cx="1005804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d97706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d97706"/>
                </a:solidFill>
                <a:latin typeface="Segoe UI"/>
              </a:rPr>
              <a:t>The warm start produces realistic discharge immediately — notice the rainfall-driven peak around day 342-343 (~0.038 m³/s), consistent with a real storm event.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31520" y="365760"/>
            <a:ext cx="73148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7c3aed"/>
                </a:solidFill>
                <a:latin typeface="Segoe UI"/>
              </a:rPr>
              <a:t>OUTPUT FILES — SUMMARY &amp; DESCRIPTION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31520" y="822960"/>
            <a:ext cx="365724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CustomShape 3"/>
          <p:cNvSpPr/>
          <p:nvPr/>
        </p:nvSpPr>
        <p:spPr>
          <a:xfrm>
            <a:off x="731520" y="1097280"/>
            <a:ext cx="5394600" cy="530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CustomShape 4"/>
          <p:cNvSpPr/>
          <p:nvPr/>
        </p:nvSpPr>
        <p:spPr>
          <a:xfrm>
            <a:off x="731520" y="1097280"/>
            <a:ext cx="539460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CustomShape 5"/>
          <p:cNvSpPr/>
          <p:nvPr/>
        </p:nvSpPr>
        <p:spPr>
          <a:xfrm>
            <a:off x="1005840" y="1280160"/>
            <a:ext cx="493740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d4ed8"/>
                </a:solidFill>
                <a:latin typeface="Segoe UI"/>
              </a:rPr>
              <a:t>END-OF-RUN STATE MAPS  (.end.nc)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5" name="CustomShape 6"/>
          <p:cNvSpPr/>
          <p:nvPr/>
        </p:nvSpPr>
        <p:spPr>
          <a:xfrm>
            <a:off x="1005840" y="1691640"/>
            <a:ext cx="4937400" cy="5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NetCDF snapshots of every grid cell at the final timestep. Cold start produces 30 .end.nc files — the watershed's 'memory' for warm-start initialization.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126" name="Table 7"/>
          <p:cNvGraphicFramePr/>
          <p:nvPr/>
        </p:nvGraphicFramePr>
        <p:xfrm>
          <a:off x="914400" y="2240280"/>
          <a:ext cx="5028840" cy="28800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2103120"/>
              </a:tblGrid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Files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Channel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chanq, chcro 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Discharge &amp; cross-section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Snow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scova/b/c 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Snow cover per elevation zone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Soil Moisture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tha/b/c 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Soil moisture layers a/b/c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Groundwater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lz, uz, uzf, uzi 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Lower/upper zone storage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Interception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cumi, cumf, cseal 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Rainfall interception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Days Since Rain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dslr, dslf, dsli 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General / forest / irrigated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Frost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frost 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Ground frost index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Overland Flow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ofdir, offor, ofoth .end.nc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Direct / forest / other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7" name="CustomShape 8"/>
          <p:cNvSpPr/>
          <p:nvPr/>
        </p:nvSpPr>
        <p:spPr>
          <a:xfrm>
            <a:off x="6492240" y="1097280"/>
            <a:ext cx="5028840" cy="530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CustomShape 9"/>
          <p:cNvSpPr/>
          <p:nvPr/>
        </p:nvSpPr>
        <p:spPr>
          <a:xfrm>
            <a:off x="6492240" y="1097280"/>
            <a:ext cx="502884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CustomShape 10"/>
          <p:cNvSpPr/>
          <p:nvPr/>
        </p:nvSpPr>
        <p:spPr>
          <a:xfrm>
            <a:off x="6766560" y="1280160"/>
            <a:ext cx="457164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59669"/>
                </a:solidFill>
                <a:latin typeface="Segoe UI"/>
              </a:rPr>
              <a:t>TIME SERIES &amp; SPATIAL OUTPUTS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0" name="CustomShape 11"/>
          <p:cNvSpPr/>
          <p:nvPr/>
        </p:nvSpPr>
        <p:spPr>
          <a:xfrm>
            <a:off x="6766560" y="1691640"/>
            <a:ext cx="45716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97706"/>
                </a:solidFill>
                <a:latin typeface="Segoe UI"/>
              </a:rPr>
              <a:t>Time Series (.tss files)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131" name="Table 12"/>
          <p:cNvGraphicFramePr/>
          <p:nvPr/>
        </p:nvGraphicFramePr>
        <p:xfrm>
          <a:off x="6675120" y="2011680"/>
          <a:ext cx="4663080" cy="223992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2651760"/>
              </a:tblGrid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File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</a:tr>
              <a:tr h="302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dis.tss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Both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Discharge at gauge (m³/s)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chanqWin.tss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Both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Channel Q last sub-step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02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rainUps.tss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Warm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Upstream rainfall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tAvgUps.tss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Warm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Upstream avg temperature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02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etUps.tss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Warm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Upstream evapotranspiration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snowUps.tss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Warm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Upstream snowmelt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2" name="CustomShape 13"/>
          <p:cNvSpPr/>
          <p:nvPr/>
        </p:nvSpPr>
        <p:spPr>
          <a:xfrm>
            <a:off x="6766560" y="4206240"/>
            <a:ext cx="45716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97706"/>
                </a:solidFill>
                <a:latin typeface="Segoe UI"/>
              </a:rPr>
              <a:t>Spatial Maps (.nc)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133" name="Table 14"/>
          <p:cNvGraphicFramePr/>
          <p:nvPr/>
        </p:nvGraphicFramePr>
        <p:xfrm>
          <a:off x="6675120" y="4526280"/>
          <a:ext cx="4663080" cy="159984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2286000"/>
              </a:tblGrid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File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Size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dis.nc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5.65 MB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Spatially-distributed discharge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chanq.nc, chcro.nc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20-31 KB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Channel state maps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tha/b/c.nc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~76 KB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Soil moisture maps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lz.nc, uz.nc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76-80 KB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Groundwater zone maps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731520" y="365760"/>
            <a:ext cx="73148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d97706"/>
                </a:solidFill>
                <a:latin typeface="Segoe UI"/>
              </a:rPr>
              <a:t>COLD START vs WARM START — AT A GLANCE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731520" y="822960"/>
            <a:ext cx="3657240" cy="37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136" name="Table 3"/>
          <p:cNvGraphicFramePr/>
          <p:nvPr/>
        </p:nvGraphicFramePr>
        <p:xfrm>
          <a:off x="731520" y="1051560"/>
          <a:ext cx="10698120" cy="384012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206240"/>
              </a:tblGrid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Cold Start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Segoe UI"/>
                        </a:rPr>
                        <a:t>Warm Start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e406e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Config File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cold.xml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warm_start.xml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Simulation Period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01/01/2024 → 30/11/2024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01/12/2024 → 31/12/2024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Duration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~336 days (~11 months)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~31 days (December 2024)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Approx. Run Time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~50 seconds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~10 seconds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Initial States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All set to 0 or −9999 (empty watershed)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7 × .end.nc files loaded from cold run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InitLisflood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1  (initialization mode ON)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0  (operational mode)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Spin-Up Required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Yes — early output unreliable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No — accurate from timestep 1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Output Directory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/output_dataset/out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/output_dataset/out_warm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Key Outputs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30 .end.nc state maps + dis.tss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33 .end.nc + 8 .tss + 25 spatial .nc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Docker Image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jrce1/lisflood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jrce1/lisflood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23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Use Case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Build initial states / calibrate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93b"/>
                          </a:solidFill>
                          <a:latin typeface="Segoe UI"/>
                        </a:rPr>
                        <a:t>Real-time operational forecasting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/>
          <p:cNvSpPr/>
          <p:nvPr/>
        </p:nvSpPr>
        <p:spPr>
          <a:xfrm>
            <a:off x="731520" y="365760"/>
            <a:ext cx="73148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7c3aed"/>
                </a:solidFill>
                <a:latin typeface="Segoe UI"/>
              </a:rPr>
              <a:t>COLD → WARM START WORKFLOW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8" name="CustomShape 2"/>
          <p:cNvSpPr/>
          <p:nvPr/>
        </p:nvSpPr>
        <p:spPr>
          <a:xfrm>
            <a:off x="731520" y="822960"/>
            <a:ext cx="365724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CustomShape 3"/>
          <p:cNvSpPr/>
          <p:nvPr/>
        </p:nvSpPr>
        <p:spPr>
          <a:xfrm>
            <a:off x="731520" y="1280160"/>
            <a:ext cx="3200040" cy="475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CustomShape 4"/>
          <p:cNvSpPr/>
          <p:nvPr/>
        </p:nvSpPr>
        <p:spPr>
          <a:xfrm>
            <a:off x="731520" y="1280160"/>
            <a:ext cx="320004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CustomShape 5"/>
          <p:cNvSpPr/>
          <p:nvPr/>
        </p:nvSpPr>
        <p:spPr>
          <a:xfrm>
            <a:off x="1005840" y="1463040"/>
            <a:ext cx="2742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1d4ed8"/>
                </a:solidFill>
                <a:latin typeface="Segoe UI"/>
              </a:rPr>
              <a:t>STEP 1 — COLD START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2" name="CustomShape 6"/>
          <p:cNvSpPr/>
          <p:nvPr/>
        </p:nvSpPr>
        <p:spPr>
          <a:xfrm>
            <a:off x="1005840" y="1965960"/>
            <a:ext cx="2742840" cy="254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Run cold.xml for ~336 days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All states start at 0 / −9999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Watershed fills up over time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End-of-run: 30 state maps saved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as *.end.nc in /out/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Output: dis.tss + dis.nc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(discharge data for analysis)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Total storage: ~130 MB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3" name="CustomShape 7"/>
          <p:cNvSpPr/>
          <p:nvPr/>
        </p:nvSpPr>
        <p:spPr>
          <a:xfrm>
            <a:off x="4114800" y="3017520"/>
            <a:ext cx="1462680" cy="100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6000" spc="-1" strike="noStrike">
                <a:solidFill>
                  <a:srgbClr val="d97706"/>
                </a:solidFill>
                <a:latin typeface="Segoe UI"/>
              </a:rPr>
              <a:t>→</a:t>
            </a:r>
            <a:endParaRPr b="0" lang="en-IN" sz="6000" spc="-1" strike="noStrike">
              <a:latin typeface="Arial"/>
            </a:endParaRPr>
          </a:p>
        </p:txBody>
      </p:sp>
      <p:sp>
        <p:nvSpPr>
          <p:cNvPr id="144" name="CustomShape 8"/>
          <p:cNvSpPr/>
          <p:nvPr/>
        </p:nvSpPr>
        <p:spPr>
          <a:xfrm>
            <a:off x="3931920" y="3931920"/>
            <a:ext cx="182844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d97706"/>
                </a:solidFill>
                <a:latin typeface="Segoe UI"/>
              </a:rPr>
              <a:t>7 × .end.nc</a:t>
            </a:r>
            <a:br/>
            <a:r>
              <a:rPr b="0" lang="en-US" sz="1100" spc="-1" strike="noStrike">
                <a:solidFill>
                  <a:srgbClr val="d97706"/>
                </a:solidFill>
                <a:latin typeface="Segoe UI"/>
              </a:rPr>
              <a:t>files transfer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5" name="CustomShape 9"/>
          <p:cNvSpPr/>
          <p:nvPr/>
        </p:nvSpPr>
        <p:spPr>
          <a:xfrm>
            <a:off x="5760720" y="1280160"/>
            <a:ext cx="3200040" cy="475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CustomShape 10"/>
          <p:cNvSpPr/>
          <p:nvPr/>
        </p:nvSpPr>
        <p:spPr>
          <a:xfrm>
            <a:off x="5760720" y="1280160"/>
            <a:ext cx="320004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CustomShape 11"/>
          <p:cNvSpPr/>
          <p:nvPr/>
        </p:nvSpPr>
        <p:spPr>
          <a:xfrm>
            <a:off x="6035040" y="1463040"/>
            <a:ext cx="27428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59669"/>
                </a:solidFill>
                <a:latin typeface="Segoe UI"/>
              </a:rPr>
              <a:t>STEP 2 — WARM START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8" name="CustomShape 12"/>
          <p:cNvSpPr/>
          <p:nvPr/>
        </p:nvSpPr>
        <p:spPr>
          <a:xfrm>
            <a:off x="6035040" y="1965960"/>
            <a:ext cx="2742840" cy="254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Run warm_start.xml for 31 days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7 key states loaded from .end.nc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Remaining states use defaults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Physically realistic from day 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Outputs written to /out_warm/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8 .tss files + 25 spatial .nc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 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+ 33 new .end.nc maps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201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▸ </a:t>
            </a:r>
            <a:r>
              <a:rPr b="0" lang="en-US" sz="1100" spc="-1" strike="noStrike">
                <a:solidFill>
                  <a:srgbClr val="334155"/>
                </a:solidFill>
                <a:latin typeface="Segoe UI"/>
              </a:rPr>
              <a:t>Ready for next warm cycle!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9" name="CustomShape 13"/>
          <p:cNvSpPr/>
          <p:nvPr/>
        </p:nvSpPr>
        <p:spPr>
          <a:xfrm>
            <a:off x="9326880" y="1280160"/>
            <a:ext cx="2285640" cy="475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CustomShape 14"/>
          <p:cNvSpPr/>
          <p:nvPr/>
        </p:nvSpPr>
        <p:spPr>
          <a:xfrm>
            <a:off x="9326880" y="1280160"/>
            <a:ext cx="2285640" cy="3780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CustomShape 15"/>
          <p:cNvSpPr/>
          <p:nvPr/>
        </p:nvSpPr>
        <p:spPr>
          <a:xfrm>
            <a:off x="9509760" y="1463040"/>
            <a:ext cx="19198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e11d48"/>
                </a:solidFill>
                <a:latin typeface="Segoe UI"/>
              </a:rPr>
              <a:t>RESULTS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2" name="CustomShape 16"/>
          <p:cNvSpPr/>
          <p:nvPr/>
        </p:nvSpPr>
        <p:spPr>
          <a:xfrm>
            <a:off x="9509760" y="1920240"/>
            <a:ext cx="1919880" cy="334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e11d48"/>
                </a:solidFill>
                <a:latin typeface="Segoe UI"/>
              </a:rPr>
              <a:t>Cold Run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334155"/>
                </a:solidFill>
                <a:latin typeface="Segoe UI"/>
              </a:rPr>
              <a:t>30 .end.nc + 5 .tss</a:t>
            </a:r>
            <a:br/>
            <a:r>
              <a:rPr b="0" lang="en-US" sz="1000" spc="-1" strike="noStrike">
                <a:solidFill>
                  <a:srgbClr val="334155"/>
                </a:solidFill>
                <a:latin typeface="Segoe UI"/>
              </a:rPr>
              <a:t>+ dis.nc (5.65 MB)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e11d48"/>
                </a:solidFill>
                <a:latin typeface="Segoe UI"/>
              </a:rPr>
              <a:t>Warm Run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334155"/>
                </a:solidFill>
                <a:latin typeface="Segoe UI"/>
              </a:rPr>
              <a:t>33 .end.nc + 8 .tss</a:t>
            </a:r>
            <a:br/>
            <a:r>
              <a:rPr b="0" lang="en-US" sz="1000" spc="-1" strike="noStrike">
                <a:solidFill>
                  <a:srgbClr val="334155"/>
                </a:solidFill>
                <a:latin typeface="Segoe UI"/>
              </a:rPr>
              <a:t>+ 25 spatial .nc maps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e11d48"/>
                </a:solidFill>
                <a:latin typeface="Segoe UI"/>
              </a:rPr>
              <a:t>Peak Q (Cold)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334155"/>
                </a:solidFill>
                <a:latin typeface="Segoe UI"/>
              </a:rPr>
              <a:t>~1.19 m³/s</a:t>
            </a:r>
            <a:br/>
            <a:r>
              <a:rPr b="0" lang="en-US" sz="1000" spc="-1" strike="noStrike">
                <a:solidFill>
                  <a:srgbClr val="334155"/>
                </a:solidFill>
                <a:latin typeface="Segoe UI"/>
              </a:rPr>
              <a:t>around day 275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e11d48"/>
                </a:solidFill>
                <a:latin typeface="Segoe UI"/>
              </a:rPr>
              <a:t>Peak Q (Warm)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334155"/>
                </a:solidFill>
                <a:latin typeface="Segoe UI"/>
              </a:rPr>
              <a:t>~0.038 m³/s</a:t>
            </a:r>
            <a:br/>
            <a:r>
              <a:rPr b="0" lang="en-US" sz="1000" spc="-1" strike="noStrike">
                <a:solidFill>
                  <a:srgbClr val="334155"/>
                </a:solidFill>
                <a:latin typeface="Segoe UI"/>
              </a:rPr>
              <a:t>around day 342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b="1" lang="en-US" sz="1000" spc="-1" strike="noStrike">
                <a:solidFill>
                  <a:srgbClr val="e11d48"/>
                </a:solidFill>
                <a:latin typeface="Segoe UI"/>
              </a:rPr>
              <a:t>Run Time ↓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spcAft>
                <a:spcPts val="201"/>
              </a:spcAft>
            </a:pPr>
            <a:r>
              <a:rPr b="0" lang="en-US" sz="1000" spc="-1" strike="noStrike">
                <a:solidFill>
                  <a:srgbClr val="334155"/>
                </a:solidFill>
                <a:latin typeface="Segoe UI"/>
              </a:rPr>
              <a:t>48 s + 34 s</a:t>
            </a:r>
            <a:br/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-1828800" y="3657600"/>
            <a:ext cx="5486040" cy="5486040"/>
          </a:xfrm>
          <a:prstGeom prst="ellipse">
            <a:avLst/>
          </a:prstGeom>
          <a:solidFill>
            <a:srgbClr val="eff6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CustomShape 2"/>
          <p:cNvSpPr/>
          <p:nvPr/>
        </p:nvSpPr>
        <p:spPr>
          <a:xfrm>
            <a:off x="4114800" y="2377440"/>
            <a:ext cx="393156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CustomShape 3"/>
          <p:cNvSpPr/>
          <p:nvPr/>
        </p:nvSpPr>
        <p:spPr>
          <a:xfrm>
            <a:off x="914400" y="2560320"/>
            <a:ext cx="10332360" cy="76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f172a"/>
                </a:solidFill>
                <a:latin typeface="Segoe UI"/>
              </a:rPr>
              <a:t>Thank You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914400" y="3566160"/>
            <a:ext cx="1033236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1d4ed8"/>
                </a:solidFill>
                <a:latin typeface="Segoe UI"/>
              </a:rPr>
              <a:t>LISFLOOD  •  Cold Start &amp; Warm Start Analysis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914400" y="4297680"/>
            <a:ext cx="1033236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Segoe UI"/>
              </a:rPr>
              <a:t>For questions or further discussion, please reach out.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2026-06-17T15:38:55Z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